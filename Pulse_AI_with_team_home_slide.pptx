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3" r:id="rId8"/>
  </p:sldIdLst>
  <p:sldSz cx="9144000" cy="5143500" type="screen16x9"/>
  <p:notesSz cx="5143500" cy="9144000"/>
  <p:embeddedFontLst>
    <p:embeddedFont>
      <p:font typeface="Arial Rounded MT Bold" panose="020F0704030504030204" pitchFamily="3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Kanit" panose="020B0604020202020204" charset="-34"/>
      <p:regular r:id="rId15"/>
    </p:embeddedFont>
    <p:embeddedFont>
      <p:font typeface="Martel Sans Bold" panose="020B0604020202020204" charset="0"/>
      <p:regular r:id="rId16"/>
    </p:embeddedFont>
    <p:embeddedFont>
      <p:font typeface="Martel Sans Light" panose="020B0604020202020204" charset="0"/>
      <p:regular r:id="rId17"/>
    </p:embeddedFont>
    <p:embeddedFont>
      <p:font typeface="Source Sans Pro" panose="020B0503030403020204" pitchFamily="3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5B818-9804-477E-AC5E-0E5D619FC04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7A752-466D-47AC-ADFA-33736C275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7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75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8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2577" y="369803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957188"/>
            <a:ext cx="4667845" cy="212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952577" y="3278758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52577" y="4054227"/>
            <a:ext cx="14288" cy="713259"/>
          </a:xfrm>
          <a:prstGeom prst="roundRect">
            <a:avLst>
              <a:gd name="adj" fmla="val 59998"/>
            </a:avLst>
          </a:prstGeom>
          <a:solidFill>
            <a:srgbClr val="FD505F"/>
          </a:solidFill>
          <a:ln/>
        </p:spPr>
      </p:sp>
      <p:sp>
        <p:nvSpPr>
          <p:cNvPr id="7" name="Text 4"/>
          <p:cNvSpPr/>
          <p:nvPr/>
        </p:nvSpPr>
        <p:spPr>
          <a:xfrm>
            <a:off x="1913111" y="2018042"/>
            <a:ext cx="447154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b="1" dirty="0">
                <a:solidFill>
                  <a:schemeClr val="bg1"/>
                </a:solidFill>
              </a:rPr>
              <a:t>Submitted to  : Prof. </a:t>
            </a:r>
            <a:r>
              <a:rPr lang="en-US" sz="1000" b="1" i="0" cap="all" dirty="0">
                <a:solidFill>
                  <a:schemeClr val="bg1"/>
                </a:solidFill>
                <a:effectLst/>
                <a:latin typeface="Source Sans Pro" panose="020B0604020202020204" pitchFamily="34" charset="0"/>
              </a:rPr>
              <a:t>Abraham THOMAS</a:t>
            </a:r>
          </a:p>
        </p:txBody>
      </p:sp>
      <p:pic>
        <p:nvPicPr>
          <p:cNvPr id="8" name="Picture 7" descr="iim_logo_download.jpg">
            <a:extLst>
              <a:ext uri="{FF2B5EF4-FFF2-40B4-BE49-F238E27FC236}">
                <a16:creationId xmlns:a16="http://schemas.microsoft.com/office/drawing/2014/main" id="{28EA4E36-705C-42FA-842A-317D72F8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1384" cy="741249"/>
          </a:xfrm>
          <a:prstGeom prst="rect">
            <a:avLst/>
          </a:prstGeom>
        </p:spPr>
      </p:pic>
      <p:pic>
        <p:nvPicPr>
          <p:cNvPr id="9" name="Picture 8" descr="ieseg_logo_downloaded.jpg">
            <a:extLst>
              <a:ext uri="{FF2B5EF4-FFF2-40B4-BE49-F238E27FC236}">
                <a16:creationId xmlns:a16="http://schemas.microsoft.com/office/drawing/2014/main" id="{6AC84243-2F2B-48D5-97C5-D2C95206D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017" y="0"/>
            <a:ext cx="1684983" cy="780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7CCF1B-8672-42E0-967C-B551C61ECFA9}"/>
              </a:ext>
            </a:extLst>
          </p:cNvPr>
          <p:cNvSpPr txBox="1"/>
          <p:nvPr/>
        </p:nvSpPr>
        <p:spPr>
          <a:xfrm>
            <a:off x="1973068" y="7129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PULSE ai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12525A-A3CE-4ACF-BE88-FBAAAD066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4000" contrast="-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90" y="798290"/>
            <a:ext cx="8996714" cy="43257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0BB958-4EF0-4082-B6A8-026A72B001FB}"/>
              </a:ext>
            </a:extLst>
          </p:cNvPr>
          <p:cNvSpPr txBox="1"/>
          <p:nvPr/>
        </p:nvSpPr>
        <p:spPr>
          <a:xfrm>
            <a:off x="2546837" y="19077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ptos"/>
              </a:rPr>
              <a:t>TEAM MEMBERS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551DC5-98EE-446C-9732-711F44845B6C}"/>
              </a:ext>
            </a:extLst>
          </p:cNvPr>
          <p:cNvSpPr txBox="1"/>
          <p:nvPr/>
        </p:nvSpPr>
        <p:spPr>
          <a:xfrm>
            <a:off x="263644" y="2378629"/>
            <a:ext cx="1559529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chemeClr val="bg1"/>
                </a:solidFill>
                <a:latin typeface="Aptos"/>
              </a:rPr>
              <a:t>ANUBHAV SHARMA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chemeClr val="bg1"/>
                </a:solidFill>
                <a:latin typeface="Aptos"/>
              </a:rPr>
              <a:t>pgpwe21012@iiml.ac.in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0B15BF-E318-4CBE-BC78-5B77AF47C6BF}"/>
              </a:ext>
            </a:extLst>
          </p:cNvPr>
          <p:cNvSpPr txBox="1"/>
          <p:nvPr/>
        </p:nvSpPr>
        <p:spPr>
          <a:xfrm>
            <a:off x="263644" y="3036997"/>
            <a:ext cx="1873718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chemeClr val="bg1"/>
                </a:solidFill>
                <a:latin typeface="Aptos"/>
              </a:rPr>
              <a:t>HEMANT KUMAR SINGH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chemeClr val="bg1"/>
                </a:solidFill>
                <a:latin typeface="Aptos"/>
              </a:rPr>
              <a:t>pgpwe2102</a:t>
            </a:r>
            <a:r>
              <a:rPr lang="en-US" sz="850" dirty="0">
                <a:solidFill>
                  <a:schemeClr val="bg1"/>
                </a:solidFill>
                <a:latin typeface="Aptos"/>
              </a:rPr>
              <a:t>1</a:t>
            </a:r>
            <a:r>
              <a:rPr sz="850" dirty="0">
                <a:solidFill>
                  <a:schemeClr val="bg1"/>
                </a:solidFill>
                <a:latin typeface="Aptos"/>
              </a:rPr>
              <a:t>@iiml.ac.in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F2684-335D-40D2-B33D-D74EE9E504F8}"/>
              </a:ext>
            </a:extLst>
          </p:cNvPr>
          <p:cNvSpPr txBox="1"/>
          <p:nvPr/>
        </p:nvSpPr>
        <p:spPr>
          <a:xfrm>
            <a:off x="263644" y="3695365"/>
            <a:ext cx="1255472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chemeClr val="bg1"/>
                </a:solidFill>
                <a:latin typeface="Aptos"/>
              </a:rPr>
              <a:t>NEHIL KUMAR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chemeClr val="bg1"/>
                </a:solidFill>
                <a:latin typeface="Aptos"/>
              </a:rPr>
              <a:t>pgpwe21034@iiml.ac.in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D70E1-9191-41EC-AC0F-E67403BAA1D1}"/>
              </a:ext>
            </a:extLst>
          </p:cNvPr>
          <p:cNvSpPr txBox="1"/>
          <p:nvPr/>
        </p:nvSpPr>
        <p:spPr>
          <a:xfrm>
            <a:off x="6172200" y="2194560"/>
            <a:ext cx="1851789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chemeClr val="bg1"/>
                </a:solidFill>
                <a:latin typeface="Aptos"/>
              </a:rPr>
              <a:t>PINESH NARESH SINGAL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chemeClr val="bg1"/>
                </a:solidFill>
                <a:latin typeface="Aptos"/>
              </a:rPr>
              <a:t>pgpwe21036@iiml.ac.in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62755B-677F-4D03-9532-40A1C3EC9172}"/>
              </a:ext>
            </a:extLst>
          </p:cNvPr>
          <p:cNvSpPr txBox="1"/>
          <p:nvPr/>
        </p:nvSpPr>
        <p:spPr>
          <a:xfrm>
            <a:off x="6172200" y="2852928"/>
            <a:ext cx="1856855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chemeClr val="bg1"/>
                </a:solidFill>
                <a:latin typeface="Aptos"/>
              </a:rPr>
              <a:t>SUNMEET SINGH RAJAN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chemeClr val="bg1"/>
                </a:solidFill>
                <a:latin typeface="Aptos"/>
              </a:rPr>
              <a:t>pgpwe21057@iiml.ac.in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7DC62-42F8-4AAB-BE54-23806EED98D2}"/>
              </a:ext>
            </a:extLst>
          </p:cNvPr>
          <p:cNvSpPr txBox="1"/>
          <p:nvPr/>
        </p:nvSpPr>
        <p:spPr>
          <a:xfrm>
            <a:off x="6172200" y="3511296"/>
            <a:ext cx="1255472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chemeClr val="bg1"/>
                </a:solidFill>
                <a:latin typeface="Aptos"/>
              </a:rPr>
              <a:t>VIVEK PALIWAL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chemeClr val="bg1"/>
                </a:solidFill>
                <a:latin typeface="Aptos"/>
              </a:rPr>
              <a:t>pgpwe21063@iiml.ac.in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C5898-0A23-437B-9A1B-F00BD8F04B22}"/>
              </a:ext>
            </a:extLst>
          </p:cNvPr>
          <p:cNvSpPr/>
          <p:nvPr/>
        </p:nvSpPr>
        <p:spPr>
          <a:xfrm>
            <a:off x="2546837" y="1222787"/>
            <a:ext cx="4050326" cy="482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Submitted To : Prof. </a:t>
            </a:r>
            <a:r>
              <a:rPr lang="en-US" b="1" i="0" dirty="0">
                <a:solidFill>
                  <a:schemeClr val="bg1"/>
                </a:solidFill>
                <a:effectLst/>
                <a:latin typeface="VerlagCondensed"/>
              </a:rPr>
              <a:t>Abraham Thomas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4038A1-F795-45E9-A63C-654CCAC58C19}"/>
              </a:ext>
            </a:extLst>
          </p:cNvPr>
          <p:cNvSpPr/>
          <p:nvPr/>
        </p:nvSpPr>
        <p:spPr>
          <a:xfrm>
            <a:off x="2745540" y="596265"/>
            <a:ext cx="3426660" cy="322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customer Behavior Engine</a:t>
            </a:r>
          </a:p>
        </p:txBody>
      </p:sp>
    </p:spTree>
    <p:extLst>
      <p:ext uri="{BB962C8B-B14F-4D97-AF65-F5344CB8AC3E}">
        <p14:creationId xmlns:p14="http://schemas.microsoft.com/office/powerpoint/2010/main" val="2708804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375940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Pulse AI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957188"/>
            <a:ext cx="4667845" cy="212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Simulate how real human populations respond to a decision — before it happens.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952577" y="3278758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 AI-native platform where a fleet of agents designs the study, builds a grounded synthetic population, runs simulations, interviews respondents, and returns a recommendation with confidence and evidence.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52577" y="4054227"/>
            <a:ext cx="14288" cy="713259"/>
          </a:xfrm>
          <a:prstGeom prst="roundRect">
            <a:avLst>
              <a:gd name="adj" fmla="val 59998"/>
            </a:avLst>
          </a:prstGeom>
          <a:solidFill>
            <a:srgbClr val="FD505F"/>
          </a:solidFill>
          <a:ln/>
        </p:spPr>
      </p:sp>
      <p:sp>
        <p:nvSpPr>
          <p:cNvPr id="7" name="Text 4"/>
          <p:cNvSpPr/>
          <p:nvPr/>
        </p:nvSpPr>
        <p:spPr>
          <a:xfrm>
            <a:off x="4148882" y="4201492"/>
            <a:ext cx="447154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"Fail safely in a controlled environment before you fail expensively in front of real customers."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364629"/>
            <a:ext cx="769590" cy="173906"/>
          </a:xfrm>
          <a:prstGeom prst="roundRect">
            <a:avLst>
              <a:gd name="adj" fmla="val 7904"/>
            </a:avLst>
          </a:prstGeom>
          <a:solidFill>
            <a:srgbClr val="4C0107"/>
          </a:solidFill>
          <a:ln/>
        </p:spPr>
      </p:sp>
      <p:sp>
        <p:nvSpPr>
          <p:cNvPr id="4" name="Text 1"/>
          <p:cNvSpPr/>
          <p:nvPr/>
        </p:nvSpPr>
        <p:spPr>
          <a:xfrm>
            <a:off x="4021262" y="398934"/>
            <a:ext cx="1089422" cy="1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52577" y="578569"/>
            <a:ext cx="4667845" cy="6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Big decisions are still made on guesswork.</a:t>
            </a:r>
            <a:endParaRPr lang="en-US" sz="2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1402631"/>
            <a:ext cx="4667845" cy="11731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8538" y="1531441"/>
            <a:ext cx="435307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Ships before anyone knows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138538" y="1759967"/>
            <a:ext cx="4353074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launches, pricing strategies, marketing messages, and policies are deployed before anyone truly understands how real people will respond. Organizations rely on instinct, internal consensus, or outdated research — not evidence.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2675930"/>
            <a:ext cx="4667845" cy="10013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38538" y="2804740"/>
            <a:ext cx="435307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Traditional research can't keep up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38538" y="3033266"/>
            <a:ext cx="4353074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Conventional research is slow, expensive, and structurally unable to reach niche or hard-to-recruit segments. By the time findings arrive, the window for action has closed.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777481"/>
            <a:ext cx="4667845" cy="1001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38538" y="3906292"/>
            <a:ext cx="435307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Failure is discovered in-market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138538" y="4134817"/>
            <a:ext cx="4353074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most expensive place to learn is in front of real customers. Once a decision fails publicly, the cost is not just financial — it's reputational, competitive, and often irreversible.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359941"/>
            <a:ext cx="462855" cy="99343"/>
          </a:xfrm>
          <a:prstGeom prst="roundRect">
            <a:avLst>
              <a:gd name="adj" fmla="val 7907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62794" y="379512"/>
            <a:ext cx="841623" cy="6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SOLUTION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523577" y="472306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Describe a decision in plain English. Agents do the rest.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3577" y="713854"/>
            <a:ext cx="855404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Pulse AI's agentic pipeline transforms a single natural-language brief into a rigorous, evidence-backed recommendation — without a single human-hour of manual research design.</a:t>
            </a:r>
            <a:endParaRPr lang="en-US" sz="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829196"/>
            <a:ext cx="7315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3577" y="4980756"/>
            <a:ext cx="8096845" cy="181496"/>
          </a:xfrm>
          <a:prstGeom prst="roundRect">
            <a:avLst>
              <a:gd name="adj" fmla="val 5410"/>
            </a:avLst>
          </a:prstGeom>
          <a:solidFill>
            <a:srgbClr val="7E010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7" y="5062463"/>
            <a:ext cx="81781" cy="654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178" y="5029721"/>
            <a:ext cx="82760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synthetic population is anchored to real, cited distributions — census data, panel studies, and published surveys. Transparent and replicable, not vibes.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377949"/>
            <a:ext cx="878235" cy="183282"/>
          </a:xfrm>
          <a:prstGeom prst="roundRect">
            <a:avLst>
              <a:gd name="adj" fmla="val 7902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95982" y="414114"/>
            <a:ext cx="1190625" cy="110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TRUST &amp; RIGOR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05730"/>
            <a:ext cx="8096845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Calibrated estimates, never false precision.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77" y="1127522"/>
            <a:ext cx="8096845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Pulse AI is engineered for enterprise-grade trust. Every result is accompanied by its own provenance, uncertainty bounds, and audit trail — making it suitable for board-level decisions and regulatory scrutiny.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23577" y="1623640"/>
            <a:ext cx="3992761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7" name="Shape 5"/>
          <p:cNvSpPr/>
          <p:nvPr/>
        </p:nvSpPr>
        <p:spPr>
          <a:xfrm>
            <a:off x="644203" y="1744266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769" y="1843757"/>
            <a:ext cx="162892" cy="1628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203" y="2217539"/>
            <a:ext cx="375151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Grounding Manifest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203" y="2461766"/>
            <a:ext cx="3751511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Full data provenance and citations for every population attribute — traceable to source datasets, with versioning and timestamps.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7587" y="1623640"/>
            <a:ext cx="3992835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12" name="Shape 9"/>
          <p:cNvSpPr/>
          <p:nvPr/>
        </p:nvSpPr>
        <p:spPr>
          <a:xfrm>
            <a:off x="4748213" y="1744266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7779" y="1843757"/>
            <a:ext cx="162892" cy="1628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8213" y="2217539"/>
            <a:ext cx="3751585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Backtesting &amp; Calibration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48213" y="2461766"/>
            <a:ext cx="3751585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model is scored against known ground-truth outcomes. Calibration scores are surfaced alongside results so decision-makers understand model reliability.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23577" y="3250183"/>
            <a:ext cx="3992761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203" y="3370808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769" y="3470300"/>
            <a:ext cx="162892" cy="1628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203" y="3844082"/>
            <a:ext cx="375151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Confidence &amp; Blind Spots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4203" y="4088309"/>
            <a:ext cx="3751511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Confidence intervals and a blind-spot register accompany every result — surfacing what the model knows, what it doesn't, and where assumptions are strongest.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27587" y="3250183"/>
            <a:ext cx="3992835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22" name="Shape 17"/>
          <p:cNvSpPr/>
          <p:nvPr/>
        </p:nvSpPr>
        <p:spPr>
          <a:xfrm>
            <a:off x="4748213" y="3370808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7779" y="3470300"/>
            <a:ext cx="162892" cy="1628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48213" y="3844082"/>
            <a:ext cx="3751585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Audit Log &amp; Reproducibility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48213" y="4088309"/>
            <a:ext cx="3751585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Full audit logs, human-in-the-loop approval gates, and reproducible runs. Seed plus config equals the same result — every time, for every stakeholder.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1825"/>
            <a:ext cx="617860" cy="177105"/>
          </a:xfrm>
          <a:prstGeom prst="roundRect">
            <a:avLst>
              <a:gd name="adj" fmla="val 7900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93527" y="466799"/>
            <a:ext cx="9351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 ACTION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3577" y="650453"/>
            <a:ext cx="80968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From a plain-English question to a board-ready recommendation.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39638" y="1149102"/>
            <a:ext cx="3403550" cy="3562573"/>
          </a:xfrm>
          <a:prstGeom prst="roundRect">
            <a:avLst>
              <a:gd name="adj" fmla="val 514"/>
            </a:avLst>
          </a:prstGeom>
          <a:solidFill>
            <a:srgbClr val="1B1744"/>
          </a:solidFill>
          <a:ln/>
        </p:spPr>
      </p:sp>
      <p:sp>
        <p:nvSpPr>
          <p:cNvPr id="6" name="Text 4"/>
          <p:cNvSpPr/>
          <p:nvPr/>
        </p:nvSpPr>
        <p:spPr>
          <a:xfrm>
            <a:off x="556171" y="1252910"/>
            <a:ext cx="3170486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Scenario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6171" y="1528093"/>
            <a:ext cx="3170486" cy="622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European EV maker asks: </a:t>
            </a:r>
            <a:r>
              <a:rPr lang="en-US" sz="9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Should we launch an entry-level mass-market EV or a premium EV in India?</a:t>
            </a:r>
            <a:endParaRPr lang="en-US" sz="9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One plain-English question. One board-ready output.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6171" y="2296418"/>
            <a:ext cx="3170486" cy="14288"/>
          </a:xfrm>
          <a:prstGeom prst="roundRect">
            <a:avLst>
              <a:gd name="adj" fmla="val 59998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56171" y="2456557"/>
            <a:ext cx="3170486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Populace Delivers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6171" y="2731740"/>
            <a:ext cx="3170486" cy="1379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Grounded Indian auto-buyer synthetic population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Four segments: metro upgraders, affluent early-adopters, tier-2 families, fleet buyers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Price and concept conjoint testing at scale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Live cohort interviews with synthetic respondents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Decision matrix scored on TAM, margin, competitive intensity, brand fit, and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48423" y="1252910"/>
            <a:ext cx="4576688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Output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48423" y="1528093"/>
            <a:ext cx="457668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Pulse AI returns a </a:t>
            </a:r>
            <a:r>
              <a:rPr lang="en-US" sz="9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Compare &amp; Decide matrix</a:t>
            </a: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Entry-Level vs. Premium vs. Delay — each scored across six dimensions with rationale, confidence intervals, and blind-spot flags.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48423" y="2173932"/>
            <a:ext cx="2236440" cy="889546"/>
          </a:xfrm>
          <a:prstGeom prst="roundRect">
            <a:avLst>
              <a:gd name="adj" fmla="val 1966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9243" y="2304752"/>
            <a:ext cx="1974800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Entry-Level EV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79243" y="2579936"/>
            <a:ext cx="197480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 TAM, tight margins, intense competition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88671" y="2173932"/>
            <a:ext cx="2236440" cy="889546"/>
          </a:xfrm>
          <a:prstGeom prst="roundRect">
            <a:avLst>
              <a:gd name="adj" fmla="val 1966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490" y="2304752"/>
            <a:ext cx="1974800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Premium EV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9490" y="2579936"/>
            <a:ext cx="197480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Lower volume, strong brand fit, higher margin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48423" y="3167286"/>
            <a:ext cx="4576688" cy="713184"/>
          </a:xfrm>
          <a:prstGeom prst="roundRect">
            <a:avLst>
              <a:gd name="adj" fmla="val 2452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79243" y="3298106"/>
            <a:ext cx="4315048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Delay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79243" y="3573289"/>
            <a:ext cx="43150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Wait for infrastructure maturity; reduce risk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48423" y="3997226"/>
            <a:ext cx="4576688" cy="597694"/>
          </a:xfrm>
          <a:prstGeom prst="roundRect">
            <a:avLst>
              <a:gd name="adj" fmla="val 2926"/>
            </a:avLst>
          </a:prstGeom>
          <a:solidFill>
            <a:srgbClr val="7E010C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55" y="4155132"/>
            <a:ext cx="145703" cy="1165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427190" y="4119711"/>
            <a:ext cx="408138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One click generates a board memo and deck. Every claim carries provenance and uncertainty.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359941"/>
            <a:ext cx="462855" cy="99343"/>
          </a:xfrm>
          <a:prstGeom prst="roundRect">
            <a:avLst>
              <a:gd name="adj" fmla="val 7907"/>
            </a:avLst>
          </a:prstGeom>
          <a:solidFill>
            <a:srgbClr val="4C0107"/>
          </a:solidFill>
          <a:ln/>
        </p:spPr>
      </p:sp>
      <p:sp>
        <p:nvSpPr>
          <p:cNvPr id="7" name="Shape 4"/>
          <p:cNvSpPr/>
          <p:nvPr/>
        </p:nvSpPr>
        <p:spPr>
          <a:xfrm>
            <a:off x="1047155" y="4880477"/>
            <a:ext cx="8096845" cy="181496"/>
          </a:xfrm>
          <a:prstGeom prst="roundRect">
            <a:avLst>
              <a:gd name="adj" fmla="val 0"/>
            </a:avLst>
          </a:prstGeom>
          <a:solidFill>
            <a:srgbClr val="7E010C"/>
          </a:solidFill>
          <a:ln/>
        </p:spPr>
        <p:txBody>
          <a:bodyPr/>
          <a:lstStyle/>
          <a:p>
            <a:r>
              <a:rPr lang="en-US" sz="600" dirty="0">
                <a:highlight>
                  <a:srgbClr val="FFFF00"/>
                </a:highlight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Team : All Tech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87" y="5062463"/>
            <a:ext cx="81781" cy="6541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FF5F2702-5DF5-4433-99DF-4D0E52C3E71F}"/>
              </a:ext>
            </a:extLst>
          </p:cNvPr>
          <p:cNvSpPr/>
          <p:nvPr/>
        </p:nvSpPr>
        <p:spPr>
          <a:xfrm>
            <a:off x="1890169" y="1540365"/>
            <a:ext cx="5842341" cy="219087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F75499-2894-4F35-866E-C0C326CC234A}"/>
              </a:ext>
            </a:extLst>
          </p:cNvPr>
          <p:cNvSpPr/>
          <p:nvPr/>
        </p:nvSpPr>
        <p:spPr>
          <a:xfrm>
            <a:off x="3338481" y="2055866"/>
            <a:ext cx="3313932" cy="1092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499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675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Kanit</vt:lpstr>
      <vt:lpstr>Arial</vt:lpstr>
      <vt:lpstr>Martel Sans Light</vt:lpstr>
      <vt:lpstr>VerlagCondensed</vt:lpstr>
      <vt:lpstr>Martel Sans Bold</vt:lpstr>
      <vt:lpstr>Arial Rounded MT Bold</vt:lpstr>
      <vt:lpstr>Calibri</vt:lpstr>
      <vt:lpstr>Source Sans Pro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Hemant Kumar Singh</cp:lastModifiedBy>
  <cp:revision>9</cp:revision>
  <dcterms:created xsi:type="dcterms:W3CDTF">2026-07-17T10:10:20Z</dcterms:created>
  <dcterms:modified xsi:type="dcterms:W3CDTF">2026-07-17T12:55:04Z</dcterms:modified>
</cp:coreProperties>
</file>