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embeddedFontLst>
    <p:embeddedFont>
      <p:font typeface="Calibri" panose="020F0502020204030204" pitchFamily="34" charset="0"/>
      <p:regular r:id="rId9"/>
      <p:bold r:id="rId10"/>
      <p:italic r:id="rId11"/>
      <p:boldItalic r:id="rId12"/>
    </p:embeddedFont>
    <p:embeddedFont>
      <p:font typeface="Kanit" panose="020B0604020202020204" charset="-34"/>
      <p:regular r:id="rId13"/>
    </p:embeddedFont>
    <p:embeddedFont>
      <p:font typeface="Martel Sans Bold" panose="020B0604020202020204" charset="0"/>
      <p:regular r:id="rId14"/>
    </p:embeddedFont>
    <p:embeddedFont>
      <p:font typeface="Martel Sans Light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20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5353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2577" y="375940"/>
            <a:ext cx="4667845" cy="384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Pulse AI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952577" y="957188"/>
            <a:ext cx="4667845" cy="2125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Simulate how real human populations respond to a decision — before it happens.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3952577" y="3278758"/>
            <a:ext cx="4667845" cy="6282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An AI-native platform where a fleet of agents designs the study, builds a grounded synthetic population, runs simulations, interviews respondents, and returns a recommendation with confidence and evidence.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3952577" y="4054227"/>
            <a:ext cx="14288" cy="713259"/>
          </a:xfrm>
          <a:prstGeom prst="roundRect">
            <a:avLst>
              <a:gd name="adj" fmla="val 59998"/>
            </a:avLst>
          </a:prstGeom>
          <a:solidFill>
            <a:srgbClr val="FD505F"/>
          </a:solidFill>
          <a:ln/>
        </p:spPr>
      </p:sp>
      <p:sp>
        <p:nvSpPr>
          <p:cNvPr id="7" name="Text 4"/>
          <p:cNvSpPr/>
          <p:nvPr/>
        </p:nvSpPr>
        <p:spPr>
          <a:xfrm>
            <a:off x="4148882" y="4201492"/>
            <a:ext cx="4471541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i="1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"Fail safely in a controlled environment before you fail expensively in front of real customers."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52577" y="364629"/>
            <a:ext cx="769590" cy="173906"/>
          </a:xfrm>
          <a:prstGeom prst="roundRect">
            <a:avLst>
              <a:gd name="adj" fmla="val 7904"/>
            </a:avLst>
          </a:prstGeom>
          <a:solidFill>
            <a:srgbClr val="4C0107"/>
          </a:solidFill>
          <a:ln/>
        </p:spPr>
      </p:sp>
      <p:sp>
        <p:nvSpPr>
          <p:cNvPr id="4" name="Text 1"/>
          <p:cNvSpPr/>
          <p:nvPr/>
        </p:nvSpPr>
        <p:spPr>
          <a:xfrm>
            <a:off x="4021262" y="398934"/>
            <a:ext cx="1089422" cy="105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THE PROBLEM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3952577" y="578569"/>
            <a:ext cx="4667845" cy="673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Big decisions are still made on guesswork.</a:t>
            </a:r>
            <a:endParaRPr lang="en-US" sz="2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52577" y="1402631"/>
            <a:ext cx="4667845" cy="117313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38538" y="1531441"/>
            <a:ext cx="4353074" cy="168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Ships before anyone knows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4138538" y="1759967"/>
            <a:ext cx="4353074" cy="686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Product launches, pricing strategies, marketing messages, and policies are deployed before anyone truly understands how real people will respond. Organizations rely on instinct, internal consensus, or outdated research — not evidence.</a:t>
            </a:r>
            <a:endParaRPr lang="en-US" sz="9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52577" y="2675930"/>
            <a:ext cx="4667845" cy="100139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138538" y="2804740"/>
            <a:ext cx="4353074" cy="168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Traditional research can't keep up</a:t>
            </a:r>
            <a:endParaRPr lang="en-US" sz="1050" dirty="0"/>
          </a:p>
        </p:txBody>
      </p:sp>
      <p:sp>
        <p:nvSpPr>
          <p:cNvPr id="11" name="Text 6"/>
          <p:cNvSpPr/>
          <p:nvPr/>
        </p:nvSpPr>
        <p:spPr>
          <a:xfrm>
            <a:off x="4138538" y="3033266"/>
            <a:ext cx="4353074" cy="5152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Conventional research is slow, expensive, and structurally unable to reach niche or hard-to-recruit segments. By the time findings arrive, the window for action has closed.</a:t>
            </a:r>
            <a:endParaRPr lang="en-US" sz="9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52577" y="3777481"/>
            <a:ext cx="4667845" cy="100139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138538" y="3906292"/>
            <a:ext cx="4353074" cy="168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Failure is discovered in-market</a:t>
            </a:r>
            <a:endParaRPr lang="en-US" sz="1050" dirty="0"/>
          </a:p>
        </p:txBody>
      </p:sp>
      <p:sp>
        <p:nvSpPr>
          <p:cNvPr id="14" name="Text 8"/>
          <p:cNvSpPr/>
          <p:nvPr/>
        </p:nvSpPr>
        <p:spPr>
          <a:xfrm>
            <a:off x="4138538" y="4134817"/>
            <a:ext cx="4353074" cy="5152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The most expensive place to learn is in front of real customers. Once a decision fails publicly, the cost is not just financial — it's reputational, competitive, and often irreversible.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3577" y="359941"/>
            <a:ext cx="462855" cy="99343"/>
          </a:xfrm>
          <a:prstGeom prst="roundRect">
            <a:avLst>
              <a:gd name="adj" fmla="val 7907"/>
            </a:avLst>
          </a:prstGeom>
          <a:solidFill>
            <a:srgbClr val="4C0107"/>
          </a:solidFill>
          <a:ln/>
        </p:spPr>
      </p:sp>
      <p:sp>
        <p:nvSpPr>
          <p:cNvPr id="3" name="Text 1"/>
          <p:cNvSpPr/>
          <p:nvPr/>
        </p:nvSpPr>
        <p:spPr>
          <a:xfrm>
            <a:off x="562794" y="379512"/>
            <a:ext cx="841623" cy="602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4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THE SOLUTION</a:t>
            </a:r>
            <a:endParaRPr lang="en-US" sz="400" dirty="0"/>
          </a:p>
        </p:txBody>
      </p:sp>
      <p:sp>
        <p:nvSpPr>
          <p:cNvPr id="4" name="Text 2"/>
          <p:cNvSpPr/>
          <p:nvPr/>
        </p:nvSpPr>
        <p:spPr>
          <a:xfrm>
            <a:off x="523577" y="472306"/>
            <a:ext cx="8096845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Describe a decision in plain English. Agents do the rest.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23577" y="713854"/>
            <a:ext cx="8554045" cy="78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Populace's agentic pipeline transforms a single natural-language brief into a rigorous, evidence-backed recommendation — without a single human-hour of manual research design.</a:t>
            </a:r>
            <a:endParaRPr lang="en-US" sz="5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77" y="829196"/>
            <a:ext cx="7315200" cy="4114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23577" y="4980756"/>
            <a:ext cx="8096845" cy="181496"/>
          </a:xfrm>
          <a:prstGeom prst="roundRect">
            <a:avLst>
              <a:gd name="adj" fmla="val 5410"/>
            </a:avLst>
          </a:prstGeom>
          <a:solidFill>
            <a:srgbClr val="7E010C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987" y="5062463"/>
            <a:ext cx="81781" cy="6541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36178" y="5029721"/>
            <a:ext cx="8276034" cy="78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00" dirty="0">
                <a:solidFill>
                  <a:srgbClr val="FFFF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Every synthetic population is anchored to real, cited distributions — census data, panel studies, and published surveys. Transparent and replicable, not vibes.</a:t>
            </a:r>
            <a:endParaRPr lang="en-US" sz="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3577" y="377949"/>
            <a:ext cx="878235" cy="183282"/>
          </a:xfrm>
          <a:prstGeom prst="roundRect">
            <a:avLst>
              <a:gd name="adj" fmla="val 7902"/>
            </a:avLst>
          </a:prstGeom>
          <a:solidFill>
            <a:srgbClr val="4C0107"/>
          </a:solidFill>
          <a:ln/>
        </p:spPr>
      </p:sp>
      <p:sp>
        <p:nvSpPr>
          <p:cNvPr id="3" name="Text 1"/>
          <p:cNvSpPr/>
          <p:nvPr/>
        </p:nvSpPr>
        <p:spPr>
          <a:xfrm>
            <a:off x="595982" y="414114"/>
            <a:ext cx="1190625" cy="1109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TRUST &amp; RIGOR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23577" y="605730"/>
            <a:ext cx="8096845" cy="354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Calibrated estimates, never false precision.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23577" y="1127522"/>
            <a:ext cx="8096845" cy="3710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Populace is engineered for enterprise-grade trust. Every result is accompanied by its own provenance, uncertainty bounds, and audit trail — making it suitable for board-level decisions and regulatory scrutiny.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23577" y="1623640"/>
            <a:ext cx="3992761" cy="1515294"/>
          </a:xfrm>
          <a:prstGeom prst="roundRect">
            <a:avLst>
              <a:gd name="adj" fmla="val 1195"/>
            </a:avLst>
          </a:prstGeom>
          <a:solidFill>
            <a:srgbClr val="2F2B54"/>
          </a:solidFill>
          <a:ln/>
        </p:spPr>
      </p:sp>
      <p:sp>
        <p:nvSpPr>
          <p:cNvPr id="7" name="Shape 5"/>
          <p:cNvSpPr/>
          <p:nvPr/>
        </p:nvSpPr>
        <p:spPr>
          <a:xfrm>
            <a:off x="644203" y="1744266"/>
            <a:ext cx="362024" cy="362024"/>
          </a:xfrm>
          <a:prstGeom prst="ellipse">
            <a:avLst/>
          </a:prstGeom>
          <a:solidFill>
            <a:srgbClr val="FA2F5C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3769" y="1843757"/>
            <a:ext cx="162892" cy="16289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4203" y="2217539"/>
            <a:ext cx="3751511" cy="177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Grounding Manifest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4203" y="2461766"/>
            <a:ext cx="3751511" cy="3710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Full data provenance and citations for every population attribute — traceable to source datasets, with versioning and timestamps.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627587" y="1623640"/>
            <a:ext cx="3992835" cy="1515294"/>
          </a:xfrm>
          <a:prstGeom prst="roundRect">
            <a:avLst>
              <a:gd name="adj" fmla="val 1195"/>
            </a:avLst>
          </a:prstGeom>
          <a:solidFill>
            <a:srgbClr val="2F2B54"/>
          </a:solidFill>
          <a:ln/>
        </p:spPr>
      </p:sp>
      <p:sp>
        <p:nvSpPr>
          <p:cNvPr id="12" name="Shape 9"/>
          <p:cNvSpPr/>
          <p:nvPr/>
        </p:nvSpPr>
        <p:spPr>
          <a:xfrm>
            <a:off x="4748213" y="1744266"/>
            <a:ext cx="362024" cy="362024"/>
          </a:xfrm>
          <a:prstGeom prst="ellipse">
            <a:avLst/>
          </a:prstGeom>
          <a:solidFill>
            <a:srgbClr val="FA2F5C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47779" y="1843757"/>
            <a:ext cx="162892" cy="16289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748213" y="2217539"/>
            <a:ext cx="3751585" cy="177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Backtesting &amp; Calibration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748213" y="2461766"/>
            <a:ext cx="3751585" cy="5565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Every model is scored against known ground-truth outcomes. Calibration scores are surfaced alongside results so decision-makers understand model reliability.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523577" y="3250183"/>
            <a:ext cx="3992761" cy="1515294"/>
          </a:xfrm>
          <a:prstGeom prst="roundRect">
            <a:avLst>
              <a:gd name="adj" fmla="val 1195"/>
            </a:avLst>
          </a:prstGeom>
          <a:solidFill>
            <a:srgbClr val="2F2B54"/>
          </a:solidFill>
          <a:ln/>
        </p:spPr>
      </p:sp>
      <p:sp>
        <p:nvSpPr>
          <p:cNvPr id="17" name="Shape 13"/>
          <p:cNvSpPr/>
          <p:nvPr/>
        </p:nvSpPr>
        <p:spPr>
          <a:xfrm>
            <a:off x="644203" y="3370808"/>
            <a:ext cx="362024" cy="362024"/>
          </a:xfrm>
          <a:prstGeom prst="ellipse">
            <a:avLst/>
          </a:prstGeom>
          <a:solidFill>
            <a:srgbClr val="FA2F5C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3769" y="3470300"/>
            <a:ext cx="162892" cy="16289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4203" y="3844082"/>
            <a:ext cx="3751511" cy="177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Confidence &amp; Blind Spots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644203" y="4088309"/>
            <a:ext cx="3751511" cy="5565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Confidence intervals and a blind-spot register accompany every result — surfacing what the model knows, what it doesn't, and where assumptions are strongest.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4627587" y="3250183"/>
            <a:ext cx="3992835" cy="1515294"/>
          </a:xfrm>
          <a:prstGeom prst="roundRect">
            <a:avLst>
              <a:gd name="adj" fmla="val 1195"/>
            </a:avLst>
          </a:prstGeom>
          <a:solidFill>
            <a:srgbClr val="2F2B54"/>
          </a:solidFill>
          <a:ln/>
        </p:spPr>
      </p:sp>
      <p:sp>
        <p:nvSpPr>
          <p:cNvPr id="22" name="Shape 17"/>
          <p:cNvSpPr/>
          <p:nvPr/>
        </p:nvSpPr>
        <p:spPr>
          <a:xfrm>
            <a:off x="4748213" y="3370808"/>
            <a:ext cx="362024" cy="362024"/>
          </a:xfrm>
          <a:prstGeom prst="ellipse">
            <a:avLst/>
          </a:prstGeom>
          <a:solidFill>
            <a:srgbClr val="FA2F5C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847779" y="3470300"/>
            <a:ext cx="162892" cy="16289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748213" y="3844082"/>
            <a:ext cx="3751585" cy="177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Audit Log &amp; Reproducibility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4748213" y="4088309"/>
            <a:ext cx="3751585" cy="5565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Full audit logs, human-in-the-loop approval gates, and reproducible runs. Seed plus config equals the same result — every time, for every stakeholder.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3577" y="431825"/>
            <a:ext cx="617860" cy="177105"/>
          </a:xfrm>
          <a:prstGeom prst="roundRect">
            <a:avLst>
              <a:gd name="adj" fmla="val 7900"/>
            </a:avLst>
          </a:prstGeom>
          <a:solidFill>
            <a:srgbClr val="4C0107"/>
          </a:solidFill>
          <a:ln/>
        </p:spPr>
      </p:sp>
      <p:sp>
        <p:nvSpPr>
          <p:cNvPr id="3" name="Text 1"/>
          <p:cNvSpPr/>
          <p:nvPr/>
        </p:nvSpPr>
        <p:spPr>
          <a:xfrm>
            <a:off x="593527" y="466799"/>
            <a:ext cx="935162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IN ACTION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23577" y="650453"/>
            <a:ext cx="809684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From a plain-English question to a board-ready recommendation.</a:t>
            </a:r>
            <a:endParaRPr lang="en-US" sz="2150" dirty="0"/>
          </a:p>
        </p:txBody>
      </p:sp>
      <p:sp>
        <p:nvSpPr>
          <p:cNvPr id="5" name="Shape 3"/>
          <p:cNvSpPr/>
          <p:nvPr/>
        </p:nvSpPr>
        <p:spPr>
          <a:xfrm>
            <a:off x="439638" y="1149102"/>
            <a:ext cx="3403550" cy="3562573"/>
          </a:xfrm>
          <a:prstGeom prst="roundRect">
            <a:avLst>
              <a:gd name="adj" fmla="val 514"/>
            </a:avLst>
          </a:prstGeom>
          <a:solidFill>
            <a:srgbClr val="1B1744"/>
          </a:solidFill>
          <a:ln/>
        </p:spPr>
      </p:sp>
      <p:sp>
        <p:nvSpPr>
          <p:cNvPr id="6" name="Text 4"/>
          <p:cNvSpPr/>
          <p:nvPr/>
        </p:nvSpPr>
        <p:spPr>
          <a:xfrm>
            <a:off x="556171" y="1252910"/>
            <a:ext cx="3170486" cy="171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The Scenario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56171" y="1528093"/>
            <a:ext cx="3170486" cy="6224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 European EV maker asks: </a:t>
            </a:r>
            <a:r>
              <a:rPr lang="en-US" sz="90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Should we launch an entry-level mass-market EV or a premium EV in India?</a:t>
            </a:r>
            <a:endParaRPr lang="en-US" sz="90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One plain-English question. One board-ready output.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56171" y="2296418"/>
            <a:ext cx="3170486" cy="14288"/>
          </a:xfrm>
          <a:prstGeom prst="roundRect">
            <a:avLst>
              <a:gd name="adj" fmla="val 59998"/>
            </a:avLst>
          </a:prstGeom>
          <a:solidFill>
            <a:srgbClr val="D9E1FF">
              <a:alpha val="5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56171" y="2456557"/>
            <a:ext cx="3170486" cy="171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What Populace Delivers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56171" y="2731740"/>
            <a:ext cx="3170486" cy="1379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82880" algn="l">
              <a:lnSpc>
                <a:spcPct val="126000"/>
              </a:lnSpc>
              <a:buSzPct val="100000"/>
              <a:buChar char="•"/>
            </a:pPr>
            <a:r>
              <a:rPr lang="en-US" sz="9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Grounded Indian auto-buyer synthetic population</a:t>
            </a:r>
            <a:endParaRPr lang="en-US" sz="900" dirty="0"/>
          </a:p>
          <a:p>
            <a:pPr marL="182880" indent="-182880" algn="l">
              <a:lnSpc>
                <a:spcPct val="126000"/>
              </a:lnSpc>
              <a:buSzPct val="100000"/>
              <a:buChar char="•"/>
            </a:pPr>
            <a:r>
              <a:rPr lang="en-US" sz="9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Four segments: metro upgraders, affluent early-adopters, tier-2 families, fleet buyers</a:t>
            </a:r>
            <a:endParaRPr lang="en-US" sz="900" dirty="0"/>
          </a:p>
          <a:p>
            <a:pPr marL="182880" indent="-182880" algn="l">
              <a:lnSpc>
                <a:spcPct val="126000"/>
              </a:lnSpc>
              <a:buSzPct val="100000"/>
              <a:buChar char="•"/>
            </a:pPr>
            <a:r>
              <a:rPr lang="en-US" sz="9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Price and concept conjoint testing at scale</a:t>
            </a:r>
            <a:endParaRPr lang="en-US" sz="900" dirty="0"/>
          </a:p>
          <a:p>
            <a:pPr marL="182880" indent="-182880" algn="l">
              <a:lnSpc>
                <a:spcPct val="126000"/>
              </a:lnSpc>
              <a:buSzPct val="100000"/>
              <a:buChar char="•"/>
            </a:pPr>
            <a:r>
              <a:rPr lang="en-US" sz="9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Live cohort interviews with synthetic respondents</a:t>
            </a:r>
            <a:endParaRPr lang="en-US" sz="900" dirty="0"/>
          </a:p>
          <a:p>
            <a:pPr marL="182880" indent="-182880" algn="l">
              <a:lnSpc>
                <a:spcPct val="126000"/>
              </a:lnSpc>
              <a:buSzPct val="100000"/>
              <a:buChar char="•"/>
            </a:pPr>
            <a:r>
              <a:rPr lang="en-US" sz="9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Decision matrix scored on TAM, margin, competitive intensity, brand fit, and risk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048423" y="1252910"/>
            <a:ext cx="4576688" cy="171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The Output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048423" y="1528093"/>
            <a:ext cx="4576688" cy="529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Populace returns a </a:t>
            </a:r>
            <a:r>
              <a:rPr lang="en-US" sz="90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Compare &amp; Decide matrix</a:t>
            </a:r>
            <a:r>
              <a:rPr lang="en-US" sz="9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— Entry-Level vs. Premium vs. Delay — each scored across six dimensions with rationale, confidence intervals, and blind-spot flags.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048423" y="2173932"/>
            <a:ext cx="2236440" cy="889546"/>
          </a:xfrm>
          <a:prstGeom prst="roundRect">
            <a:avLst>
              <a:gd name="adj" fmla="val 1966"/>
            </a:avLst>
          </a:prstGeom>
          <a:solidFill>
            <a:srgbClr val="100C35"/>
          </a:solidFill>
          <a:ln w="14288">
            <a:solidFill>
              <a:srgbClr val="48446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79243" y="2304752"/>
            <a:ext cx="1974800" cy="171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Entry-Level EV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179243" y="2579936"/>
            <a:ext cx="1974800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High TAM, tight margins, intense competition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388671" y="2173932"/>
            <a:ext cx="2236440" cy="889546"/>
          </a:xfrm>
          <a:prstGeom prst="roundRect">
            <a:avLst>
              <a:gd name="adj" fmla="val 1966"/>
            </a:avLst>
          </a:prstGeom>
          <a:solidFill>
            <a:srgbClr val="100C35"/>
          </a:solidFill>
          <a:ln w="14288">
            <a:solidFill>
              <a:srgbClr val="48446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9490" y="2304752"/>
            <a:ext cx="1974800" cy="171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Premium EV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519490" y="2579936"/>
            <a:ext cx="1974800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Lower volume, strong brand fit, higher margin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048423" y="3167286"/>
            <a:ext cx="4576688" cy="713184"/>
          </a:xfrm>
          <a:prstGeom prst="roundRect">
            <a:avLst>
              <a:gd name="adj" fmla="val 2452"/>
            </a:avLst>
          </a:prstGeom>
          <a:solidFill>
            <a:srgbClr val="100C35"/>
          </a:solidFill>
          <a:ln w="14288">
            <a:solidFill>
              <a:srgbClr val="48446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79243" y="3298106"/>
            <a:ext cx="4315048" cy="171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Delay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179243" y="3573289"/>
            <a:ext cx="4315048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Wait for infrastructure maturity; reduce risk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048423" y="3997226"/>
            <a:ext cx="4576688" cy="597694"/>
          </a:xfrm>
          <a:prstGeom prst="roundRect">
            <a:avLst>
              <a:gd name="adj" fmla="val 2926"/>
            </a:avLst>
          </a:prstGeom>
          <a:solidFill>
            <a:srgbClr val="7E010C"/>
          </a:solidFill>
          <a:ln/>
        </p:spPr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4955" y="4155132"/>
            <a:ext cx="145703" cy="116532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4427190" y="4119711"/>
            <a:ext cx="4081388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One click generates a board memo and deck. Every claim carries provenance and uncertainty.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4F2C030-3083-4082-A354-6BF19C48A88A}"/>
              </a:ext>
            </a:extLst>
          </p:cNvPr>
          <p:cNvSpPr txBox="1"/>
          <p:nvPr/>
        </p:nvSpPr>
        <p:spPr>
          <a:xfrm>
            <a:off x="2801500" y="2076503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ANUBHAV SHARMA   pgpwe21012@iiml.ac.in</a:t>
            </a:r>
          </a:p>
          <a:p>
            <a:r>
              <a:rPr lang="en-US" sz="1200" dirty="0">
                <a:solidFill>
                  <a:schemeClr val="bg1"/>
                </a:solidFill>
              </a:rPr>
              <a:t>HEMANT KUMAR SINGH  pgpwe21012@iiml.ac.in</a:t>
            </a:r>
          </a:p>
          <a:p>
            <a:r>
              <a:rPr lang="en-US" sz="1200" dirty="0">
                <a:solidFill>
                  <a:schemeClr val="bg1"/>
                </a:solidFill>
              </a:rPr>
              <a:t>NEHIL KUMAR pgpwe21034@iiml.ac.in</a:t>
            </a:r>
          </a:p>
          <a:p>
            <a:r>
              <a:rPr lang="en-US" sz="1200" dirty="0">
                <a:solidFill>
                  <a:schemeClr val="bg1"/>
                </a:solidFill>
              </a:rPr>
              <a:t>PINESH NARESH SINGAL pgpwe21036@iiml.ac.in</a:t>
            </a:r>
          </a:p>
          <a:p>
            <a:r>
              <a:rPr lang="en-US" sz="1200" dirty="0">
                <a:solidFill>
                  <a:schemeClr val="bg1"/>
                </a:solidFill>
              </a:rPr>
              <a:t>SUNMEET SINGH RAJAN pgpwe21057@iiml.ac.in</a:t>
            </a:r>
          </a:p>
          <a:p>
            <a:r>
              <a:rPr lang="en-US" sz="1200" dirty="0">
                <a:solidFill>
                  <a:schemeClr val="bg1"/>
                </a:solidFill>
              </a:rPr>
              <a:t>VIVEK PALIWAL pgpwe21063@iiml.ac.in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6B343B7-41A8-4892-955D-068FDD116C83}"/>
              </a:ext>
            </a:extLst>
          </p:cNvPr>
          <p:cNvSpPr/>
          <p:nvPr/>
        </p:nvSpPr>
        <p:spPr>
          <a:xfrm>
            <a:off x="3074594" y="1403398"/>
            <a:ext cx="2239973" cy="49095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Team Members</a:t>
            </a:r>
          </a:p>
        </p:txBody>
      </p:sp>
    </p:spTree>
    <p:extLst>
      <p:ext uri="{BB962C8B-B14F-4D97-AF65-F5344CB8AC3E}">
        <p14:creationId xmlns:p14="http://schemas.microsoft.com/office/powerpoint/2010/main" val="35104819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642</Words>
  <Application>Microsoft Office PowerPoint</Application>
  <PresentationFormat>On-screen Show (16:9)</PresentationFormat>
  <Paragraphs>59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Kanit</vt:lpstr>
      <vt:lpstr>Martel Sans Light</vt:lpstr>
      <vt:lpstr>Arial</vt:lpstr>
      <vt:lpstr>Martel Sans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Hemant Kumar Singh</cp:lastModifiedBy>
  <cp:revision>2</cp:revision>
  <dcterms:created xsi:type="dcterms:W3CDTF">2026-07-16T10:58:27Z</dcterms:created>
  <dcterms:modified xsi:type="dcterms:W3CDTF">2026-07-16T11:08:35Z</dcterms:modified>
</cp:coreProperties>
</file>